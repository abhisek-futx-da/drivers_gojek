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  <p:sldId id="258" r:id="rId4"/>
    <p:sldId id="259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F2E6B4-71DD-F2DE-FE0D-B0E01562FB71}" v="253" dt="2025-11-18T13:59:05.7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819" y="889820"/>
            <a:ext cx="7492181" cy="3598606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8820" y="4488426"/>
            <a:ext cx="5243832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667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5644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6472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38" y="1709739"/>
            <a:ext cx="7974050" cy="285273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538" y="4589464"/>
            <a:ext cx="7974050" cy="150018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4048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77" y="922096"/>
            <a:ext cx="8018449" cy="11279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6538" y="2128684"/>
            <a:ext cx="3978313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2128684"/>
            <a:ext cx="3914775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7709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16" y="929148"/>
            <a:ext cx="7980004" cy="76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538" y="1681164"/>
            <a:ext cx="3961644" cy="657225"/>
          </a:xfrm>
        </p:spPr>
        <p:txBody>
          <a:bodyPr anchor="b">
            <a:normAutofit/>
          </a:bodyPr>
          <a:lstStyle>
            <a:lvl1pPr marL="0" indent="0">
              <a:buNone/>
              <a:defRPr sz="2133" b="1">
                <a:latin typeface="+mj-lt"/>
              </a:defRPr>
            </a:lvl1pPr>
            <a:lvl2pPr marL="609585" indent="0">
              <a:buNone/>
              <a:defRPr sz="2133" b="1"/>
            </a:lvl2pPr>
            <a:lvl3pPr marL="1219170" indent="0">
              <a:buNone/>
              <a:defRPr sz="2133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6538" y="2505076"/>
            <a:ext cx="3961644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4"/>
            <a:ext cx="3887391" cy="657225"/>
          </a:xfrm>
        </p:spPr>
        <p:txBody>
          <a:bodyPr anchor="b">
            <a:normAutofit/>
          </a:bodyPr>
          <a:lstStyle>
            <a:lvl1pPr marL="0" indent="0">
              <a:buNone/>
              <a:defRPr sz="2133" b="1">
                <a:latin typeface="+mj-lt"/>
              </a:defRPr>
            </a:lvl1pPr>
            <a:lvl2pPr marL="609585" indent="0">
              <a:buNone/>
              <a:defRPr sz="2133" b="1"/>
            </a:lvl2pPr>
            <a:lvl3pPr marL="1219170" indent="0">
              <a:buNone/>
              <a:defRPr sz="2133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6"/>
            <a:ext cx="3887391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927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76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919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20" y="781665"/>
            <a:ext cx="3070199" cy="1223452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6194" y="2315498"/>
            <a:ext cx="3070199" cy="3553491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7207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07" y="1066801"/>
            <a:ext cx="3077573" cy="1317523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391" y="1066800"/>
            <a:ext cx="4629150" cy="4794250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2507" y="2552700"/>
            <a:ext cx="3077573" cy="3316288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8808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1079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931742" y="997974"/>
            <a:ext cx="1761782" cy="49849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997973"/>
            <a:ext cx="6303092" cy="49849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8079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77" y="922096"/>
            <a:ext cx="8018449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477" y="2293126"/>
            <a:ext cx="8018449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77086" y="6356351"/>
            <a:ext cx="1944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538" y="6356351"/>
            <a:ext cx="3404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89259" y="6356351"/>
            <a:ext cx="5042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600075" y="723900"/>
            <a:ext cx="794385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600075" y="6142781"/>
            <a:ext cx="79438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5773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672" userDrawn="1">
          <p15:clr>
            <a:srgbClr val="F26B43"/>
          </p15:clr>
        </p15:guide>
        <p15:guide id="4" orient="horz" pos="912" userDrawn="1">
          <p15:clr>
            <a:srgbClr val="F26B43"/>
          </p15:clr>
        </p15:guide>
        <p15:guide id="5" pos="5382" userDrawn="1">
          <p15:clr>
            <a:srgbClr val="F26B43"/>
          </p15:clr>
        </p15:guide>
        <p15:guide id="6" pos="378" userDrawn="1">
          <p15:clr>
            <a:srgbClr val="F26B43"/>
          </p15:clr>
        </p15:guide>
        <p15:guide id="7" orient="horz" pos="3864" userDrawn="1">
          <p15:clr>
            <a:srgbClr val="F26B43"/>
          </p15:clr>
        </p15:guide>
        <p15:guide id="8" orient="horz" pos="45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282" y="1570654"/>
            <a:ext cx="6347714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b="1" dirty="0">
                <a:ea typeface="+mn-lt"/>
                <a:cs typeface="+mn-lt"/>
              </a:rPr>
              <a:t>Project Overview</a:t>
            </a:r>
            <a:endParaRPr lang="en-US" dirty="0">
              <a:ea typeface="+mn-lt"/>
              <a:cs typeface="+mn-lt"/>
            </a:endParaRPr>
          </a:p>
          <a:p>
            <a:r>
              <a:rPr lang="en-US" sz="1600" b="1" dirty="0">
                <a:ea typeface="+mn-lt"/>
                <a:cs typeface="+mn-lt"/>
              </a:rPr>
              <a:t>Title</a:t>
            </a:r>
            <a:r>
              <a:rPr lang="en-US" sz="1600" dirty="0">
                <a:ea typeface="+mn-lt"/>
                <a:cs typeface="+mn-lt"/>
              </a:rPr>
              <a:t>: Optimizing Driver Allocation with Machine Learning</a:t>
            </a:r>
            <a:endParaRPr lang="en-US" dirty="0">
              <a:ea typeface="+mn-lt"/>
              <a:cs typeface="+mn-lt"/>
            </a:endParaRPr>
          </a:p>
          <a:p>
            <a:r>
              <a:rPr lang="en-US" sz="1600" b="1" dirty="0">
                <a:ea typeface="+mn-lt"/>
                <a:cs typeface="+mn-lt"/>
              </a:rPr>
              <a:t>Dataset Summary</a:t>
            </a:r>
            <a:r>
              <a:rPr lang="en-US" sz="1600" dirty="0">
                <a:ea typeface="+mn-lt"/>
                <a:cs typeface="+mn-lt"/>
              </a:rPr>
              <a:t>: Real-world operational data from a ride-hailing platform (similar to GoJek).</a:t>
            </a:r>
            <a:endParaRPr lang="en-US"/>
          </a:p>
          <a:p>
            <a:pPr lvl="1"/>
            <a:r>
              <a:rPr lang="en-US" sz="1600" b="1" dirty="0">
                <a:ea typeface="+mn-lt"/>
                <a:cs typeface="+mn-lt"/>
              </a:rPr>
              <a:t>Key Data Sources</a:t>
            </a:r>
            <a:r>
              <a:rPr lang="en-US" sz="1600" dirty="0">
                <a:ea typeface="+mn-lt"/>
                <a:cs typeface="+mn-lt"/>
              </a:rPr>
              <a:t>:</a:t>
            </a:r>
            <a:endParaRPr lang="en-US" dirty="0"/>
          </a:p>
          <a:p>
            <a:pPr marL="457200" lvl="1" indent="0">
              <a:buNone/>
            </a:pPr>
            <a:r>
              <a:rPr lang="en-US" sz="1600" dirty="0">
                <a:ea typeface="+mn-lt"/>
                <a:cs typeface="+mn-lt"/>
              </a:rPr>
              <a:t>    •    Booking Log: Contains ride request details such as timestamps, pickup points, and trip distances.</a:t>
            </a:r>
            <a:endParaRPr lang="en-US" dirty="0"/>
          </a:p>
          <a:p>
            <a:pPr marL="457200" lvl="1" indent="0">
              <a:buNone/>
            </a:pPr>
            <a:r>
              <a:rPr lang="en-US" sz="1600" dirty="0">
                <a:ea typeface="+mn-lt"/>
                <a:cs typeface="+mn-lt"/>
              </a:rPr>
              <a:t>    •    Participant/Driver Log: Stores driver attributes, availability, location, and status.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1600" b="1" dirty="0">
                <a:ea typeface="+mn-lt"/>
                <a:cs typeface="+mn-lt"/>
              </a:rPr>
              <a:t>Goal</a:t>
            </a:r>
            <a:r>
              <a:rPr lang="en-US" sz="1600" dirty="0">
                <a:ea typeface="+mn-lt"/>
                <a:cs typeface="+mn-lt"/>
              </a:rPr>
              <a:t>: To efficiently match customers with the most suitable available driver by leveraging machine learning on time-series, geospatial, and behavioral data.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 Understanding &amp; Cleaning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1611" y="1403506"/>
            <a:ext cx="8239433" cy="545449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 dirty="0">
                <a:ea typeface="+mn-lt"/>
                <a:cs typeface="+mn-lt"/>
              </a:rPr>
              <a:t>Dataset Description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Includes booking logs, driver/participant logs, and test datasets covering orders, driver details, trip info, timestamps, and GPS coordinates.</a:t>
            </a:r>
            <a:endParaRPr lang="en-US" dirty="0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 b="1" dirty="0">
                <a:ea typeface="+mn-lt"/>
                <a:cs typeface="+mn-lt"/>
              </a:rPr>
              <a:t>Data Quality Issues Identified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   •    Missing key fields: </a:t>
            </a:r>
            <a:r>
              <a:rPr lang="en-US" dirty="0" err="1">
                <a:ea typeface="+mn-lt"/>
                <a:cs typeface="+mn-lt"/>
              </a:rPr>
              <a:t>event_timestamp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driver_accept_rate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driver_total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trip_distance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pickup_latitude</a:t>
            </a:r>
            <a:r>
              <a:rPr lang="en-US" dirty="0">
                <a:ea typeface="+mn-lt"/>
                <a:cs typeface="+mn-lt"/>
              </a:rPr>
              <a:t>/longitude.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   •    Timestamp inconsistencies (string formats, UTC).</a:t>
            </a:r>
            <a:endParaRPr lang="en-US" dirty="0"/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    •    Invalid zero values in numerical columns (e.g., zero distance).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   •    Categorical values stored as strings but needing encoding</a:t>
            </a:r>
            <a:endParaRPr lang="en-US" dirty="0"/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0" y="-230833"/>
            <a:ext cx="2648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4966" y="312126"/>
            <a:ext cx="7423357" cy="56560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Cleaning &amp; Preprocessing Steps</a:t>
            </a:r>
          </a:p>
          <a:p>
            <a:r>
              <a:rPr lang="en-US" b="1" dirty="0"/>
              <a:t>Preprocessing</a:t>
            </a:r>
          </a:p>
          <a:p>
            <a:pPr lvl="1"/>
            <a:r>
              <a:rPr lang="en-US" sz="1400" dirty="0"/>
              <a:t>One-Hot Encoding</a:t>
            </a:r>
          </a:p>
          <a:p>
            <a:pPr lvl="1"/>
            <a:r>
              <a:rPr lang="en-US" sz="1400" dirty="0"/>
              <a:t>Timestamps → converted to </a:t>
            </a:r>
            <a:r>
              <a:rPr lang="en-US" sz="1400" b="1" dirty="0"/>
              <a:t>datetime format</a:t>
            </a:r>
            <a:r>
              <a:rPr lang="en-US" sz="1400" dirty="0"/>
              <a:t>.</a:t>
            </a:r>
          </a:p>
          <a:p>
            <a:r>
              <a:rPr lang="en-US" b="1" dirty="0"/>
              <a:t>Feature Engineering</a:t>
            </a:r>
            <a:endParaRPr lang="en-US" dirty="0"/>
          </a:p>
          <a:p>
            <a:r>
              <a:rPr lang="en-US" sz="1400" dirty="0"/>
              <a:t>Extracted </a:t>
            </a:r>
            <a:r>
              <a:rPr lang="en-US" sz="1400" dirty="0" err="1"/>
              <a:t>event_hour</a:t>
            </a:r>
            <a:r>
              <a:rPr lang="en-US" sz="1400" dirty="0"/>
              <a:t> from timestamp.</a:t>
            </a:r>
          </a:p>
          <a:p>
            <a:r>
              <a:rPr lang="en-US" sz="1400" dirty="0"/>
              <a:t>Created new feature: </a:t>
            </a:r>
            <a:r>
              <a:rPr lang="en-US" sz="1400" dirty="0" err="1"/>
              <a:t>driver_distance_to_pickup</a:t>
            </a:r>
            <a:r>
              <a:rPr lang="en-US" sz="1400" dirty="0"/>
              <a:t> using Haversine formula.</a:t>
            </a:r>
          </a:p>
          <a:p>
            <a:r>
              <a:rPr lang="en-US" sz="1400" dirty="0"/>
              <a:t>Combined booking &amp; driver data into a single processed dataset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 / Methodology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1107" y="1501828"/>
            <a:ext cx="7836311" cy="4574507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b="1" dirty="0"/>
              <a:t>Workflow</a:t>
            </a:r>
          </a:p>
          <a:p>
            <a:r>
              <a:rPr lang="en-US" sz="1400" dirty="0"/>
              <a:t>Data Loading → Preprocessing → Feature Engineering → Model Training → Evaluation → Prediction</a:t>
            </a:r>
          </a:p>
          <a:p>
            <a:r>
              <a:rPr lang="en-US" b="1" dirty="0"/>
              <a:t>Techniques Used</a:t>
            </a:r>
          </a:p>
          <a:p>
            <a:r>
              <a:rPr lang="en-US" sz="1400" dirty="0"/>
              <a:t>Applied ML model (e.g., Random Forest )</a:t>
            </a:r>
          </a:p>
          <a:p>
            <a:r>
              <a:rPr lang="en-US" sz="1400" dirty="0"/>
              <a:t>Feature engineering to extract meaningful signals</a:t>
            </a:r>
          </a:p>
          <a:p>
            <a:r>
              <a:rPr lang="en-US" sz="1400" dirty="0"/>
              <a:t>Data encoding for consistent model input</a:t>
            </a:r>
          </a:p>
          <a:p>
            <a:r>
              <a:rPr lang="en-US" sz="1400" b="1" dirty="0"/>
              <a:t>Why This Approach</a:t>
            </a:r>
          </a:p>
          <a:p>
            <a:r>
              <a:rPr lang="en-US" sz="1400" dirty="0"/>
              <a:t>Robust to missing values &amp; mixed feature types</a:t>
            </a:r>
          </a:p>
          <a:p>
            <a:r>
              <a:rPr lang="en-US" sz="1400" dirty="0"/>
              <a:t>Delivers strong baseline performance with minimal tuning</a:t>
            </a:r>
          </a:p>
          <a:p>
            <a:pPr marL="0" indent="0">
              <a:buNone/>
            </a:pPr>
            <a:r>
              <a:rPr lang="en-US" sz="1400" b="1" dirty="0"/>
              <a:t>Predictive Methodology</a:t>
            </a:r>
          </a:p>
          <a:p>
            <a:pPr marL="0" indent="0">
              <a:buNone/>
            </a:pPr>
            <a:r>
              <a:rPr lang="en-US" sz="1400" dirty="0">
                <a:ea typeface="+mn-lt"/>
                <a:cs typeface="+mn-lt"/>
              </a:rPr>
              <a:t>To prevent data leakage, predictions were made strictly on a sequestered test file, and the driver IDs who has a higher acceptance  was saved in a csv file.</a:t>
            </a:r>
            <a:endParaRPr lang="en-US" dirty="0"/>
          </a:p>
          <a:p>
            <a:pPr>
              <a:buNone/>
            </a:pPr>
            <a:r>
              <a:rPr lang="en-US" sz="1400" dirty="0"/>
              <a:t> </a:t>
            </a:r>
            <a:endParaRPr lang="en-US"/>
          </a:p>
          <a:p>
            <a:endParaRPr lang="en-US" sz="1400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7083" y="117987"/>
            <a:ext cx="6347713" cy="1320800"/>
          </a:xfrm>
        </p:spPr>
        <p:txBody>
          <a:bodyPr/>
          <a:lstStyle/>
          <a:p>
            <a:r>
              <a:rPr lang="en-US" dirty="0"/>
              <a:t>Challenges, Learnings &amp; Next Steps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570654"/>
            <a:ext cx="6347714" cy="3880773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b="1" dirty="0"/>
              <a:t>Challenges:</a:t>
            </a:r>
            <a:endParaRPr lang="en-US" dirty="0"/>
          </a:p>
          <a:p>
            <a:r>
              <a:rPr lang="en-US" dirty="0"/>
              <a:t>Missing and inconsistent log data</a:t>
            </a:r>
          </a:p>
          <a:p>
            <a:r>
              <a:rPr lang="en-US" dirty="0"/>
              <a:t>Feature extraction from raw timestamps</a:t>
            </a:r>
          </a:p>
          <a:p>
            <a:r>
              <a:rPr lang="en-US" dirty="0"/>
              <a:t>Configuring </a:t>
            </a:r>
            <a:r>
              <a:rPr lang="en-US" dirty="0" err="1"/>
              <a:t>conda</a:t>
            </a:r>
            <a:r>
              <a:rPr lang="en-US" dirty="0"/>
              <a:t> </a:t>
            </a:r>
            <a:r>
              <a:rPr lang="en-US" dirty="0" err="1"/>
              <a:t>enviroment</a:t>
            </a:r>
          </a:p>
          <a:p>
            <a:r>
              <a:rPr lang="en-US" dirty="0"/>
              <a:t>Compatibility with current python version</a:t>
            </a:r>
          </a:p>
          <a:p>
            <a:r>
              <a:rPr lang="en-US" b="1" dirty="0"/>
              <a:t>Learnings:</a:t>
            </a:r>
            <a:endParaRPr lang="en-US" dirty="0"/>
          </a:p>
          <a:p>
            <a:r>
              <a:rPr lang="en-US" dirty="0"/>
              <a:t>Importance of robust preprocessing</a:t>
            </a:r>
          </a:p>
          <a:p>
            <a:r>
              <a:rPr lang="en-US" dirty="0"/>
              <a:t>Feature engineering improves model accuracy</a:t>
            </a:r>
          </a:p>
          <a:p>
            <a:r>
              <a:rPr lang="en-US" dirty="0"/>
              <a:t>Flow of a project and interconnectivity</a:t>
            </a:r>
          </a:p>
          <a:p>
            <a:r>
              <a:rPr lang="en-US" b="1" dirty="0"/>
              <a:t>Next Steps:</a:t>
            </a:r>
            <a:endParaRPr lang="en-US" dirty="0"/>
          </a:p>
          <a:p>
            <a:r>
              <a:rPr lang="en-US" dirty="0"/>
              <a:t>Add More Features</a:t>
            </a:r>
          </a:p>
          <a:p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71</TotalTime>
  <Words>472</Words>
  <Application>Microsoft Office PowerPoint</Application>
  <PresentationFormat>On-screen Show (4:3)</PresentationFormat>
  <Paragraphs>75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ChronicleVTI</vt:lpstr>
      <vt:lpstr>Project Overview</vt:lpstr>
      <vt:lpstr>Data Understanding &amp; Cleaning</vt:lpstr>
      <vt:lpstr>PowerPoint Presentation</vt:lpstr>
      <vt:lpstr>Approach / Methodology</vt:lpstr>
      <vt:lpstr>Challenges, Learnings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Overview</dc:title>
  <dc:subject/>
  <dc:creator>asus</dc:creator>
  <cp:keywords/>
  <dc:description>generated using python-pptx</dc:description>
  <cp:lastModifiedBy>asus</cp:lastModifiedBy>
  <cp:revision>100</cp:revision>
  <dcterms:created xsi:type="dcterms:W3CDTF">2013-01-27T09:14:16Z</dcterms:created>
  <dcterms:modified xsi:type="dcterms:W3CDTF">2025-11-18T13:59:24Z</dcterms:modified>
  <cp:category/>
</cp:coreProperties>
</file>